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  <p:embeddedFont>
      <p:font typeface="Montserrat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Ligh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Ligh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5f45706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5f45706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5f457061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e5f457061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5f4570613_0_30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9" name="Google Shape;539;g3e5f4570613_0_30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5f4570613_0_4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e5f4570613_0_4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2872c74ca_0_9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2872c74ca_0_9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e5f4570613_0_5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e5f4570613_0_5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5f4570613_0_5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e5f4570613_0_5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5f4570613_0_5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e5f4570613_0_5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5f85fd5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5f85fd5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5f85fd5f1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e5f85fd5f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e5f866e247_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e5f866e247_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5f866e247_13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e5f866e247_13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e5f866e247_13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e5f866e247_13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e5fd5613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g3e5fd5613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28f499e20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f28f499e20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28f499e20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f28f499e20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e5fd56131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e5fd56131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e5f4570613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e5f4570613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4"/>
          <p:cNvSpPr txBox="1"/>
          <p:nvPr>
            <p:ph idx="1" type="subTitle"/>
          </p:nvPr>
        </p:nvSpPr>
        <p:spPr>
          <a:xfrm>
            <a:off x="410424" y="357742"/>
            <a:ext cx="32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800"/>
              <a:buFont typeface="Montserrat Medium"/>
              <a:buNone/>
              <a:defRPr sz="900">
                <a:solidFill>
                  <a:srgbClr val="F8485E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85E"/>
              </a:buClr>
              <a:buSzPts val="600"/>
              <a:buNone/>
              <a:defRPr sz="800">
                <a:solidFill>
                  <a:srgbClr val="F8485E"/>
                </a:solidFill>
              </a:defRPr>
            </a:lvl9pPr>
          </a:lstStyle>
          <a:p/>
        </p:txBody>
      </p:sp>
      <p:sp>
        <p:nvSpPr>
          <p:cNvPr id="509" name="Google Shape;509;p44"/>
          <p:cNvSpPr txBox="1"/>
          <p:nvPr>
            <p:ph idx="2" type="body"/>
          </p:nvPr>
        </p:nvSpPr>
        <p:spPr>
          <a:xfrm>
            <a:off x="410766" y="583582"/>
            <a:ext cx="5194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0" spcFirstLastPara="1" rIns="68575" wrap="square" tIns="685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12" name="Google Shape;512;p4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13" name="Google Shape;513;p4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"/>
          <p:cNvSpPr/>
          <p:nvPr>
            <p:ph idx="2" type="pic"/>
          </p:nvPr>
        </p:nvSpPr>
        <p:spPr>
          <a:xfrm>
            <a:off x="0" y="1"/>
            <a:ext cx="9144000" cy="27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6" name="Google Shape;516;p46"/>
          <p:cNvSpPr/>
          <p:nvPr/>
        </p:nvSpPr>
        <p:spPr>
          <a:xfrm>
            <a:off x="321" y="2571750"/>
            <a:ext cx="9143400" cy="2571900"/>
          </a:xfrm>
          <a:prstGeom prst="rect">
            <a:avLst/>
          </a:prstGeom>
          <a:gradFill>
            <a:gsLst>
              <a:gs pos="0">
                <a:srgbClr val="3C3C3A">
                  <a:alpha val="0"/>
                </a:srgbClr>
              </a:gs>
              <a:gs pos="100000">
                <a:srgbClr val="1E1E1D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t/>
            </a:r>
            <a:endParaRPr b="0" i="0" sz="81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6"/>
          <p:cNvSpPr txBox="1"/>
          <p:nvPr>
            <p:ph idx="1" type="body"/>
          </p:nvPr>
        </p:nvSpPr>
        <p:spPr>
          <a:xfrm>
            <a:off x="656655" y="2374828"/>
            <a:ext cx="15258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46"/>
          <p:cNvSpPr txBox="1"/>
          <p:nvPr>
            <p:ph idx="3" type="body"/>
          </p:nvPr>
        </p:nvSpPr>
        <p:spPr>
          <a:xfrm>
            <a:off x="604899" y="3802927"/>
            <a:ext cx="4244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1">
  <p:cSld name="CUSTOM_27_1_1_1_2_2_1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1" name="Google Shape;521;p47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 Light"/>
              <a:buNone/>
              <a:defRPr sz="9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2" name="Google Shape;522;p47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3" name="Google Shape;523;p47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2F2F2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type="title"/>
          </p:nvPr>
        </p:nvSpPr>
        <p:spPr>
          <a:xfrm>
            <a:off x="628650" y="122611"/>
            <a:ext cx="85155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0.jpg"/><Relationship Id="rId5" Type="http://schemas.openxmlformats.org/officeDocument/2006/relationships/image" Target="../media/image34.png"/><Relationship Id="rId6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0"/>
          <p:cNvSpPr txBox="1"/>
          <p:nvPr>
            <p:ph type="title"/>
          </p:nvPr>
        </p:nvSpPr>
        <p:spPr>
          <a:xfrm>
            <a:off x="540000" y="1608950"/>
            <a:ext cx="53763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IKEA CUSTOMER PROFILING </a:t>
            </a:r>
            <a:endParaRPr/>
          </a:p>
        </p:txBody>
      </p:sp>
      <p:pic>
        <p:nvPicPr>
          <p:cNvPr id="535" name="Google Shape;535;p50" title="GettyImages-1425235289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6676" r="16676" t="0"/>
          <a:stretch/>
        </p:blipFill>
        <p:spPr>
          <a:xfrm>
            <a:off x="5204550" y="-827700"/>
            <a:ext cx="6798900" cy="6798900"/>
          </a:xfrm>
          <a:prstGeom prst="ellipse">
            <a:avLst/>
          </a:prstGeom>
        </p:spPr>
      </p:pic>
      <p:sp>
        <p:nvSpPr>
          <p:cNvPr id="536" name="Google Shape;536;p50"/>
          <p:cNvSpPr txBox="1"/>
          <p:nvPr/>
        </p:nvSpPr>
        <p:spPr>
          <a:xfrm>
            <a:off x="540000" y="2875250"/>
            <a:ext cx="4431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Presented</a:t>
            </a:r>
            <a:r>
              <a:rPr lang="en-GB"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By: Omar Althunaiyan </a:t>
            </a:r>
            <a:endParaRPr sz="13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1"/>
          <p:cNvSpPr txBox="1"/>
          <p:nvPr>
            <p:ph idx="2" type="body"/>
          </p:nvPr>
        </p:nvSpPr>
        <p:spPr>
          <a:xfrm>
            <a:off x="462266" y="377657"/>
            <a:ext cx="5194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0" spcFirstLastPara="1" rIns="68575" wrap="square" tIns="6857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000">
                <a:latin typeface="Montserrat"/>
                <a:ea typeface="Montserrat"/>
                <a:cs typeface="Montserrat"/>
                <a:sym typeface="Montserrat"/>
              </a:rPr>
              <a:t>Table of Contents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51"/>
          <p:cNvSpPr txBox="1"/>
          <p:nvPr/>
        </p:nvSpPr>
        <p:spPr>
          <a:xfrm>
            <a:off x="1080160" y="1282985"/>
            <a:ext cx="551100" cy="48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300"/>
              <a:buFont typeface="Viga"/>
              <a:buNone/>
            </a:pPr>
            <a:r>
              <a:rPr b="0" i="0" lang="en-GB" sz="2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1"/>
          <p:cNvSpPr txBox="1"/>
          <p:nvPr/>
        </p:nvSpPr>
        <p:spPr>
          <a:xfrm>
            <a:off x="1080160" y="3025820"/>
            <a:ext cx="551100" cy="4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300"/>
              <a:buFont typeface="Viga"/>
              <a:buNone/>
            </a:pPr>
            <a:r>
              <a:rPr b="0" i="0" lang="en-GB" sz="2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1"/>
          <p:cNvSpPr txBox="1"/>
          <p:nvPr/>
        </p:nvSpPr>
        <p:spPr>
          <a:xfrm>
            <a:off x="3431185" y="1282985"/>
            <a:ext cx="551100" cy="48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300"/>
              <a:buFont typeface="Viga"/>
              <a:buNone/>
            </a:pPr>
            <a:r>
              <a:rPr b="0" i="0" lang="en-GB" sz="2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1"/>
          <p:cNvSpPr txBox="1"/>
          <p:nvPr/>
        </p:nvSpPr>
        <p:spPr>
          <a:xfrm>
            <a:off x="3431185" y="3025820"/>
            <a:ext cx="551100" cy="48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300"/>
              <a:buFont typeface="Viga"/>
              <a:buNone/>
            </a:pPr>
            <a:r>
              <a:rPr b="0" i="0" lang="en-GB" sz="2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1"/>
          <p:cNvSpPr txBox="1"/>
          <p:nvPr/>
        </p:nvSpPr>
        <p:spPr>
          <a:xfrm>
            <a:off x="6021700" y="1282985"/>
            <a:ext cx="551100" cy="480300"/>
          </a:xfrm>
          <a:prstGeom prst="rect">
            <a:avLst/>
          </a:prstGeom>
          <a:solidFill>
            <a:srgbClr val="FDD9DD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300"/>
              <a:buFont typeface="Viga"/>
              <a:buNone/>
            </a:pPr>
            <a:r>
              <a:rPr b="0" i="0" lang="en-GB" sz="2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1"/>
          <p:cNvSpPr txBox="1"/>
          <p:nvPr/>
        </p:nvSpPr>
        <p:spPr>
          <a:xfrm>
            <a:off x="6021700" y="3025820"/>
            <a:ext cx="551100" cy="4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300"/>
              <a:buFont typeface="Viga"/>
              <a:buNone/>
            </a:pPr>
            <a:r>
              <a:rPr b="0" i="0" lang="en-GB" sz="2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1"/>
          <p:cNvSpPr txBox="1"/>
          <p:nvPr/>
        </p:nvSpPr>
        <p:spPr>
          <a:xfrm>
            <a:off x="997200" y="1754075"/>
            <a:ext cx="2013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rPr lang="en-GB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Overview &amp; DQ Importance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1"/>
          <p:cNvSpPr txBox="1"/>
          <p:nvPr/>
        </p:nvSpPr>
        <p:spPr>
          <a:xfrm>
            <a:off x="3348225" y="1754075"/>
            <a:ext cx="2013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rPr lang="en-GB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COMPLIANCE &amp; GOVERNANCE</a:t>
            </a:r>
            <a:endParaRPr sz="1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0" name="Google Shape;550;p51"/>
          <p:cNvSpPr txBox="1"/>
          <p:nvPr/>
        </p:nvSpPr>
        <p:spPr>
          <a:xfrm>
            <a:off x="997200" y="3496875"/>
            <a:ext cx="201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rPr lang="en-GB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 Profiling &amp; Finding Insights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1"/>
          <p:cNvSpPr txBox="1"/>
          <p:nvPr/>
        </p:nvSpPr>
        <p:spPr>
          <a:xfrm>
            <a:off x="3348224" y="3496875"/>
            <a:ext cx="201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rPr lang="en-GB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Recommendations &amp; Roadmap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1"/>
          <p:cNvSpPr txBox="1"/>
          <p:nvPr/>
        </p:nvSpPr>
        <p:spPr>
          <a:xfrm>
            <a:off x="5938750" y="1754075"/>
            <a:ext cx="2013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rPr lang="en-GB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Quality Dimensions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1"/>
          <p:cNvSpPr txBox="1"/>
          <p:nvPr/>
        </p:nvSpPr>
        <p:spPr>
          <a:xfrm>
            <a:off x="5938752" y="3496875"/>
            <a:ext cx="2013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Bebas Neue"/>
              <a:buNone/>
            </a:pPr>
            <a:r>
              <a:rPr lang="en-GB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 &amp; Q&amp;A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2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GB" sz="10000"/>
              <a:t>01</a:t>
            </a:r>
            <a:endParaRPr sz="10000"/>
          </a:p>
        </p:txBody>
      </p:sp>
      <p:sp>
        <p:nvSpPr>
          <p:cNvPr id="559" name="Google Shape;559;p52"/>
          <p:cNvSpPr txBox="1"/>
          <p:nvPr>
            <p:ph idx="2" type="title"/>
          </p:nvPr>
        </p:nvSpPr>
        <p:spPr>
          <a:xfrm>
            <a:off x="3648600" y="2051700"/>
            <a:ext cx="49554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Project Overview &amp; DQ Importance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53"/>
          <p:cNvGrpSpPr/>
          <p:nvPr/>
        </p:nvGrpSpPr>
        <p:grpSpPr>
          <a:xfrm>
            <a:off x="6559486" y="-3620998"/>
            <a:ext cx="6096000" cy="6096000"/>
            <a:chOff x="-1905000" y="-476250"/>
            <a:chExt cx="6096000" cy="6096000"/>
          </a:xfrm>
        </p:grpSpPr>
        <p:sp>
          <p:nvSpPr>
            <p:cNvPr id="565" name="Google Shape;565;p53"/>
            <p:cNvSpPr/>
            <p:nvPr/>
          </p:nvSpPr>
          <p:spPr>
            <a:xfrm>
              <a:off x="-1905000" y="-476250"/>
              <a:ext cx="6096000" cy="609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3"/>
            <p:cNvSpPr/>
            <p:nvPr/>
          </p:nvSpPr>
          <p:spPr>
            <a:xfrm>
              <a:off x="-1143000" y="285750"/>
              <a:ext cx="4572000" cy="45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3"/>
            <p:cNvSpPr/>
            <p:nvPr/>
          </p:nvSpPr>
          <p:spPr>
            <a:xfrm>
              <a:off x="-381000" y="1047750"/>
              <a:ext cx="3048000" cy="304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53"/>
          <p:cNvGrpSpPr/>
          <p:nvPr/>
        </p:nvGrpSpPr>
        <p:grpSpPr>
          <a:xfrm>
            <a:off x="-1808214" y="823452"/>
            <a:ext cx="6096000" cy="6096000"/>
            <a:chOff x="-1905000" y="-476250"/>
            <a:chExt cx="6096000" cy="6096000"/>
          </a:xfrm>
        </p:grpSpPr>
        <p:sp>
          <p:nvSpPr>
            <p:cNvPr id="569" name="Google Shape;569;p53"/>
            <p:cNvSpPr/>
            <p:nvPr/>
          </p:nvSpPr>
          <p:spPr>
            <a:xfrm>
              <a:off x="-1905000" y="-476250"/>
              <a:ext cx="6096000" cy="6096000"/>
            </a:xfrm>
            <a:prstGeom prst="ellipse">
              <a:avLst/>
            </a:prstGeom>
            <a:solidFill>
              <a:srgbClr val="FDDAD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3"/>
            <p:cNvSpPr/>
            <p:nvPr/>
          </p:nvSpPr>
          <p:spPr>
            <a:xfrm>
              <a:off x="-1143000" y="285750"/>
              <a:ext cx="4572000" cy="4572000"/>
            </a:xfrm>
            <a:prstGeom prst="ellipse">
              <a:avLst/>
            </a:prstGeom>
            <a:solidFill>
              <a:srgbClr val="FCA2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3"/>
            <p:cNvSpPr/>
            <p:nvPr/>
          </p:nvSpPr>
          <p:spPr>
            <a:xfrm>
              <a:off x="-381000" y="1047750"/>
              <a:ext cx="3048000" cy="3048000"/>
            </a:xfrm>
            <a:prstGeom prst="ellipse">
              <a:avLst/>
            </a:prstGeom>
            <a:solidFill>
              <a:srgbClr val="F848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53"/>
          <p:cNvSpPr txBox="1"/>
          <p:nvPr/>
        </p:nvSpPr>
        <p:spPr>
          <a:xfrm>
            <a:off x="287286" y="2918952"/>
            <a:ext cx="1905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DQ</a:t>
            </a:r>
            <a:endParaRPr b="1" sz="8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3" name="Google Shape;573;p53"/>
          <p:cNvGrpSpPr/>
          <p:nvPr/>
        </p:nvGrpSpPr>
        <p:grpSpPr>
          <a:xfrm>
            <a:off x="3349113" y="1169117"/>
            <a:ext cx="5524500" cy="1047900"/>
            <a:chOff x="3238500" y="1238250"/>
            <a:chExt cx="5524500" cy="1047900"/>
          </a:xfrm>
        </p:grpSpPr>
        <p:pic>
          <p:nvPicPr>
            <p:cNvPr id="574" name="Google Shape;574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8500" y="1238250"/>
              <a:ext cx="55245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53"/>
            <p:cNvSpPr/>
            <p:nvPr/>
          </p:nvSpPr>
          <p:spPr>
            <a:xfrm>
              <a:off x="3238500" y="1476375"/>
              <a:ext cx="95400" cy="571500"/>
            </a:xfrm>
            <a:prstGeom prst="roundRect">
              <a:avLst>
                <a:gd fmla="val 50000" name="adj"/>
              </a:avLst>
            </a:prstGeom>
            <a:solidFill>
              <a:srgbClr val="F848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53"/>
            <p:cNvSpPr txBox="1"/>
            <p:nvPr/>
          </p:nvSpPr>
          <p:spPr>
            <a:xfrm>
              <a:off x="4000500" y="123825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Mission</a:t>
              </a:r>
              <a:endPara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Goal:</a:t>
              </a: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 Profile 1,000 IKEA customer records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Vision:</a:t>
              </a: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 Reliable assets for customer journeys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grpSp>
        <p:nvGrpSpPr>
          <p:cNvPr id="577" name="Google Shape;577;p53"/>
          <p:cNvGrpSpPr/>
          <p:nvPr/>
        </p:nvGrpSpPr>
        <p:grpSpPr>
          <a:xfrm>
            <a:off x="3349125" y="2359686"/>
            <a:ext cx="5524500" cy="1107717"/>
            <a:chOff x="3238500" y="2428875"/>
            <a:chExt cx="5524500" cy="1285800"/>
          </a:xfrm>
        </p:grpSpPr>
        <p:pic>
          <p:nvPicPr>
            <p:cNvPr id="578" name="Google Shape;578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38500" y="2428875"/>
              <a:ext cx="55245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53"/>
            <p:cNvSpPr txBox="1"/>
            <p:nvPr/>
          </p:nvSpPr>
          <p:spPr>
            <a:xfrm>
              <a:off x="4000500" y="2428875"/>
              <a:ext cx="4572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DQ Matters?</a:t>
              </a:r>
              <a:endPara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Customer Loyalty: </a:t>
              </a: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Accurate targeting &amp; personalized offers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ost Efficiency</a:t>
              </a: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Zero waste on invalid contact details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Market Growth: </a:t>
              </a: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Fact-based insights for KSA expansion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sp>
        <p:nvSpPr>
          <p:cNvPr id="580" name="Google Shape;580;p53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Project Overview &amp; DQ Importance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581" name="Google Shape;581;p53"/>
          <p:cNvGrpSpPr/>
          <p:nvPr/>
        </p:nvGrpSpPr>
        <p:grpSpPr>
          <a:xfrm>
            <a:off x="3349113" y="3610042"/>
            <a:ext cx="5524500" cy="1047900"/>
            <a:chOff x="3238500" y="1238250"/>
            <a:chExt cx="5524500" cy="1047900"/>
          </a:xfrm>
        </p:grpSpPr>
        <p:pic>
          <p:nvPicPr>
            <p:cNvPr id="582" name="Google Shape;582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8500" y="1238250"/>
              <a:ext cx="55245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53"/>
            <p:cNvSpPr txBox="1"/>
            <p:nvPr/>
          </p:nvSpPr>
          <p:spPr>
            <a:xfrm>
              <a:off x="4000500" y="123825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Golden Rule</a:t>
              </a:r>
              <a:endPara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"Trust the Data, Trust the Decision."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Reliable analytics start with clean data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84" name="Google Shape;584;p53"/>
          <p:cNvSpPr txBox="1"/>
          <p:nvPr/>
        </p:nvSpPr>
        <p:spPr>
          <a:xfrm>
            <a:off x="3450976" y="3939927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DDADE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auto_awesome</a:t>
            </a:r>
            <a:endParaRPr sz="2800">
              <a:solidFill>
                <a:srgbClr val="FDDAD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585" name="Google Shape;585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1548" y="1423063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1548" y="264352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3"/>
          <p:cNvSpPr/>
          <p:nvPr/>
        </p:nvSpPr>
        <p:spPr>
          <a:xfrm>
            <a:off x="3349127" y="2627788"/>
            <a:ext cx="95400" cy="571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3"/>
          <p:cNvSpPr/>
          <p:nvPr/>
        </p:nvSpPr>
        <p:spPr>
          <a:xfrm>
            <a:off x="3349126" y="3848255"/>
            <a:ext cx="95400" cy="57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4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GB" sz="10000"/>
              <a:t>02</a:t>
            </a:r>
            <a:endParaRPr sz="10000"/>
          </a:p>
        </p:txBody>
      </p:sp>
      <p:sp>
        <p:nvSpPr>
          <p:cNvPr id="594" name="Google Shape;594;p54"/>
          <p:cNvSpPr txBox="1"/>
          <p:nvPr>
            <p:ph idx="2" type="title"/>
          </p:nvPr>
        </p:nvSpPr>
        <p:spPr>
          <a:xfrm>
            <a:off x="3648600" y="2051700"/>
            <a:ext cx="49554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COMPLIANCE &amp; GOVERNANCE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COMPLIANCE &amp; GOVERNANCE</a:t>
            </a:r>
            <a:endParaRPr/>
          </a:p>
        </p:txBody>
      </p:sp>
      <p:sp>
        <p:nvSpPr>
          <p:cNvPr id="600" name="Google Shape;600;p55"/>
          <p:cNvSpPr txBox="1"/>
          <p:nvPr/>
        </p:nvSpPr>
        <p:spPr>
          <a:xfrm>
            <a:off x="191900" y="2065658"/>
            <a:ext cx="4419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0500" u="none" cap="none" strike="noStrike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2030</a:t>
            </a:r>
            <a:endParaRPr>
              <a:solidFill>
                <a:schemeClr val="accen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01" name="Google Shape;601;p55"/>
          <p:cNvSpPr txBox="1"/>
          <p:nvPr/>
        </p:nvSpPr>
        <p:spPr>
          <a:xfrm>
            <a:off x="191900" y="3399158"/>
            <a:ext cx="441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The Vision Target</a:t>
            </a:r>
            <a:endParaRPr/>
          </a:p>
        </p:txBody>
      </p:sp>
      <p:sp>
        <p:nvSpPr>
          <p:cNvPr id="602" name="Google Shape;602;p55"/>
          <p:cNvSpPr/>
          <p:nvPr/>
        </p:nvSpPr>
        <p:spPr>
          <a:xfrm>
            <a:off x="4014060" y="1052636"/>
            <a:ext cx="1394968" cy="1365565"/>
          </a:xfrm>
          <a:custGeom>
            <a:rect b="b" l="l" r="r" t="t"/>
            <a:pathLst>
              <a:path extrusionOk="0" h="1820753" w="1859957">
                <a:moveTo>
                  <a:pt x="350756" y="0"/>
                </a:moveTo>
                <a:cubicBezTo>
                  <a:pt x="1023587" y="218245"/>
                  <a:pt x="1572145" y="711866"/>
                  <a:pt x="1859957" y="1357459"/>
                </a:cubicBezTo>
                <a:lnTo>
                  <a:pt x="818260" y="1820753"/>
                </a:lnTo>
                <a:lnTo>
                  <a:pt x="782145" y="1745781"/>
                </a:lnTo>
                <a:cubicBezTo>
                  <a:pt x="627893" y="1461829"/>
                  <a:pt x="380354" y="1235908"/>
                  <a:pt x="80662" y="1109148"/>
                </a:cubicBezTo>
                <a:lnTo>
                  <a:pt x="0" y="10796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5"/>
          <p:cNvSpPr/>
          <p:nvPr/>
        </p:nvSpPr>
        <p:spPr>
          <a:xfrm>
            <a:off x="4647300" y="2112292"/>
            <a:ext cx="942325" cy="1522810"/>
          </a:xfrm>
          <a:custGeom>
            <a:rect b="b" l="l" r="r" t="t"/>
            <a:pathLst>
              <a:path extrusionOk="0" h="2030413" w="1256434">
                <a:moveTo>
                  <a:pt x="1040611" y="0"/>
                </a:moveTo>
                <a:cubicBezTo>
                  <a:pt x="1328375" y="646058"/>
                  <a:pt x="1328375" y="1383974"/>
                  <a:pt x="1040611" y="2030413"/>
                </a:cubicBezTo>
                <a:lnTo>
                  <a:pt x="0" y="1567193"/>
                </a:lnTo>
                <a:lnTo>
                  <a:pt x="46236" y="1440867"/>
                </a:lnTo>
                <a:cubicBezTo>
                  <a:pt x="88060" y="1306401"/>
                  <a:pt x="110590" y="1163435"/>
                  <a:pt x="110590" y="1015206"/>
                </a:cubicBezTo>
                <a:cubicBezTo>
                  <a:pt x="110590" y="866978"/>
                  <a:pt x="88060" y="724011"/>
                  <a:pt x="46236" y="589545"/>
                </a:cubicBezTo>
                <a:lnTo>
                  <a:pt x="1" y="463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5"/>
          <p:cNvSpPr/>
          <p:nvPr/>
        </p:nvSpPr>
        <p:spPr>
          <a:xfrm>
            <a:off x="4014060" y="3329194"/>
            <a:ext cx="1394968" cy="1365565"/>
          </a:xfrm>
          <a:custGeom>
            <a:rect b="b" l="l" r="r" t="t"/>
            <a:pathLst>
              <a:path extrusionOk="0" h="1820753" w="1859957">
                <a:moveTo>
                  <a:pt x="818260" y="0"/>
                </a:moveTo>
                <a:lnTo>
                  <a:pt x="1859957" y="463294"/>
                </a:lnTo>
                <a:cubicBezTo>
                  <a:pt x="1572145" y="1108887"/>
                  <a:pt x="1023587" y="1602509"/>
                  <a:pt x="350756" y="1820753"/>
                </a:cubicBezTo>
                <a:lnTo>
                  <a:pt x="0" y="741127"/>
                </a:lnTo>
                <a:lnTo>
                  <a:pt x="80662" y="711604"/>
                </a:lnTo>
                <a:cubicBezTo>
                  <a:pt x="380354" y="584845"/>
                  <a:pt x="627893" y="358923"/>
                  <a:pt x="782145" y="74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5" name="Google Shape;605;p55"/>
          <p:cNvGrpSpPr/>
          <p:nvPr/>
        </p:nvGrpSpPr>
        <p:grpSpPr>
          <a:xfrm>
            <a:off x="5589618" y="710824"/>
            <a:ext cx="2194650" cy="1098355"/>
            <a:chOff x="8921977" y="1242150"/>
            <a:chExt cx="2926200" cy="1464473"/>
          </a:xfrm>
        </p:grpSpPr>
        <p:sp>
          <p:nvSpPr>
            <p:cNvPr id="606" name="Google Shape;606;p55"/>
            <p:cNvSpPr txBox="1"/>
            <p:nvPr/>
          </p:nvSpPr>
          <p:spPr>
            <a:xfrm>
              <a:off x="8921977" y="1242150"/>
              <a:ext cx="2926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5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SDAIA &amp; NDMO:</a:t>
              </a:r>
              <a:endParaRPr sz="1100">
                <a:solidFill>
                  <a:schemeClr val="accent1"/>
                </a:solidFill>
              </a:endParaRPr>
            </a:p>
          </p:txBody>
        </p:sp>
        <p:sp>
          <p:nvSpPr>
            <p:cNvPr id="607" name="Google Shape;607;p55"/>
            <p:cNvSpPr txBox="1"/>
            <p:nvPr/>
          </p:nvSpPr>
          <p:spPr>
            <a:xfrm>
              <a:off x="8921977" y="1598423"/>
              <a:ext cx="2926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The primary regulators setting data standards for the Kingdom.</a:t>
              </a:r>
              <a:endPara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8" name="Google Shape;608;p55"/>
          <p:cNvGrpSpPr/>
          <p:nvPr/>
        </p:nvGrpSpPr>
        <p:grpSpPr>
          <a:xfrm>
            <a:off x="5865455" y="2230465"/>
            <a:ext cx="2194650" cy="1286467"/>
            <a:chOff x="8921977" y="1242150"/>
            <a:chExt cx="2926200" cy="1715289"/>
          </a:xfrm>
        </p:grpSpPr>
        <p:sp>
          <p:nvSpPr>
            <p:cNvPr id="609" name="Google Shape;609;p55"/>
            <p:cNvSpPr txBox="1"/>
            <p:nvPr/>
          </p:nvSpPr>
          <p:spPr>
            <a:xfrm>
              <a:off x="8921977" y="1242150"/>
              <a:ext cx="2926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5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PDPL:</a:t>
              </a:r>
              <a:endParaRPr sz="1100">
                <a:solidFill>
                  <a:schemeClr val="accent2"/>
                </a:solidFill>
              </a:endParaRPr>
            </a:p>
          </p:txBody>
        </p:sp>
        <p:sp>
          <p:nvSpPr>
            <p:cNvPr id="610" name="Google Shape;610;p55"/>
            <p:cNvSpPr txBox="1"/>
            <p:nvPr/>
          </p:nvSpPr>
          <p:spPr>
            <a:xfrm>
              <a:off x="8921977" y="1572039"/>
              <a:ext cx="29262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Personal Data Protection Law that </a:t>
              </a:r>
              <a:r>
                <a:rPr lang="en-GB" sz="135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protects customer privacy and ensures data safety.</a:t>
              </a:r>
              <a:endParaRPr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55"/>
          <p:cNvGrpSpPr/>
          <p:nvPr/>
        </p:nvGrpSpPr>
        <p:grpSpPr>
          <a:xfrm>
            <a:off x="5589618" y="3779269"/>
            <a:ext cx="2194650" cy="1108142"/>
            <a:chOff x="8921977" y="1242150"/>
            <a:chExt cx="2926200" cy="1477523"/>
          </a:xfrm>
        </p:grpSpPr>
        <p:sp>
          <p:nvSpPr>
            <p:cNvPr id="612" name="Google Shape;612;p55"/>
            <p:cNvSpPr txBox="1"/>
            <p:nvPr/>
          </p:nvSpPr>
          <p:spPr>
            <a:xfrm>
              <a:off x="8921977" y="1242150"/>
              <a:ext cx="2926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5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Residency:</a:t>
              </a:r>
              <a:endParaRPr sz="1100">
                <a:solidFill>
                  <a:schemeClr val="accent3"/>
                </a:solidFill>
              </a:endParaRPr>
            </a:p>
          </p:txBody>
        </p:sp>
        <p:sp>
          <p:nvSpPr>
            <p:cNvPr id="613" name="Google Shape;613;p55"/>
            <p:cNvSpPr txBox="1"/>
            <p:nvPr/>
          </p:nvSpPr>
          <p:spPr>
            <a:xfrm>
              <a:off x="8921977" y="1611473"/>
              <a:ext cx="2926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Ensuring data residence and quality standards are met within Saudi borders.</a:t>
              </a:r>
              <a:endPara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55"/>
          <p:cNvSpPr/>
          <p:nvPr/>
        </p:nvSpPr>
        <p:spPr>
          <a:xfrm>
            <a:off x="4014060" y="1681259"/>
            <a:ext cx="791641" cy="736942"/>
          </a:xfrm>
          <a:custGeom>
            <a:rect b="b" l="l" r="r" t="t"/>
            <a:pathLst>
              <a:path extrusionOk="0" h="982590" w="1055521">
                <a:moveTo>
                  <a:pt x="78448" y="0"/>
                </a:moveTo>
                <a:lnTo>
                  <a:pt x="188583" y="40310"/>
                </a:lnTo>
                <a:cubicBezTo>
                  <a:pt x="540691" y="189239"/>
                  <a:pt x="831522" y="454673"/>
                  <a:pt x="1012752" y="788286"/>
                </a:cubicBezTo>
                <a:lnTo>
                  <a:pt x="1055521" y="877069"/>
                </a:lnTo>
                <a:lnTo>
                  <a:pt x="818260" y="982590"/>
                </a:lnTo>
                <a:lnTo>
                  <a:pt x="782145" y="907618"/>
                </a:lnTo>
                <a:cubicBezTo>
                  <a:pt x="627893" y="623666"/>
                  <a:pt x="380354" y="397745"/>
                  <a:pt x="80662" y="270985"/>
                </a:cubicBezTo>
                <a:lnTo>
                  <a:pt x="0" y="241463"/>
                </a:lnTo>
                <a:close/>
              </a:path>
            </a:pathLst>
          </a:custGeom>
          <a:solidFill>
            <a:schemeClr val="dk1">
              <a:alpha val="2392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4647300" y="2380343"/>
            <a:ext cx="278560" cy="986707"/>
          </a:xfrm>
          <a:custGeom>
            <a:rect b="b" l="l" r="r" t="t"/>
            <a:pathLst>
              <a:path extrusionOk="0" h="1315609" w="371413">
                <a:moveTo>
                  <a:pt x="237718" y="0"/>
                </a:moveTo>
                <a:lnTo>
                  <a:pt x="239251" y="3184"/>
                </a:lnTo>
                <a:cubicBezTo>
                  <a:pt x="324354" y="204388"/>
                  <a:pt x="371413" y="425600"/>
                  <a:pt x="371413" y="657804"/>
                </a:cubicBezTo>
                <a:cubicBezTo>
                  <a:pt x="371413" y="890008"/>
                  <a:pt x="324354" y="1111220"/>
                  <a:pt x="239251" y="1312424"/>
                </a:cubicBezTo>
                <a:lnTo>
                  <a:pt x="237717" y="1315609"/>
                </a:lnTo>
                <a:lnTo>
                  <a:pt x="0" y="1209791"/>
                </a:lnTo>
                <a:lnTo>
                  <a:pt x="46236" y="1083465"/>
                </a:lnTo>
                <a:cubicBezTo>
                  <a:pt x="88060" y="948999"/>
                  <a:pt x="110590" y="806033"/>
                  <a:pt x="110590" y="657804"/>
                </a:cubicBezTo>
                <a:cubicBezTo>
                  <a:pt x="110590" y="509576"/>
                  <a:pt x="88060" y="366609"/>
                  <a:pt x="46236" y="232143"/>
                </a:cubicBezTo>
                <a:lnTo>
                  <a:pt x="1" y="105818"/>
                </a:lnTo>
                <a:close/>
              </a:path>
            </a:pathLst>
          </a:custGeom>
          <a:solidFill>
            <a:schemeClr val="dk1">
              <a:alpha val="2392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4014060" y="3329194"/>
            <a:ext cx="791639" cy="736941"/>
          </a:xfrm>
          <a:custGeom>
            <a:rect b="b" l="l" r="r" t="t"/>
            <a:pathLst>
              <a:path extrusionOk="0" h="982588" w="1055519">
                <a:moveTo>
                  <a:pt x="818260" y="0"/>
                </a:moveTo>
                <a:lnTo>
                  <a:pt x="1055519" y="105521"/>
                </a:lnTo>
                <a:lnTo>
                  <a:pt x="1012752" y="194301"/>
                </a:lnTo>
                <a:cubicBezTo>
                  <a:pt x="831522" y="527915"/>
                  <a:pt x="540691" y="793349"/>
                  <a:pt x="188583" y="942277"/>
                </a:cubicBezTo>
                <a:lnTo>
                  <a:pt x="78448" y="982588"/>
                </a:lnTo>
                <a:lnTo>
                  <a:pt x="0" y="741127"/>
                </a:lnTo>
                <a:lnTo>
                  <a:pt x="80662" y="711604"/>
                </a:lnTo>
                <a:cubicBezTo>
                  <a:pt x="380354" y="584845"/>
                  <a:pt x="627893" y="358923"/>
                  <a:pt x="782145" y="74972"/>
                </a:cubicBezTo>
                <a:close/>
              </a:path>
            </a:pathLst>
          </a:custGeom>
          <a:solidFill>
            <a:schemeClr val="dk1">
              <a:alpha val="2392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275" y="1556625"/>
            <a:ext cx="411500" cy="4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9225" y="2667950"/>
            <a:ext cx="411500" cy="4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275" y="3806225"/>
            <a:ext cx="411500" cy="4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6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GB" sz="10000"/>
              <a:t>03</a:t>
            </a:r>
            <a:endParaRPr sz="10000"/>
          </a:p>
        </p:txBody>
      </p:sp>
      <p:sp>
        <p:nvSpPr>
          <p:cNvPr id="625" name="Google Shape;625;p56"/>
          <p:cNvSpPr txBox="1"/>
          <p:nvPr>
            <p:ph idx="2" type="title"/>
          </p:nvPr>
        </p:nvSpPr>
        <p:spPr>
          <a:xfrm>
            <a:off x="3648600" y="2051700"/>
            <a:ext cx="49554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Data Quality Dimensions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57"/>
          <p:cNvGrpSpPr/>
          <p:nvPr/>
        </p:nvGrpSpPr>
        <p:grpSpPr>
          <a:xfrm>
            <a:off x="-3641539" y="2712239"/>
            <a:ext cx="6096000" cy="6096000"/>
            <a:chOff x="-1905000" y="-476250"/>
            <a:chExt cx="6096000" cy="6096000"/>
          </a:xfrm>
        </p:grpSpPr>
        <p:sp>
          <p:nvSpPr>
            <p:cNvPr id="631" name="Google Shape;631;p57"/>
            <p:cNvSpPr/>
            <p:nvPr/>
          </p:nvSpPr>
          <p:spPr>
            <a:xfrm>
              <a:off x="-1905000" y="-476250"/>
              <a:ext cx="6096000" cy="6096000"/>
            </a:xfrm>
            <a:prstGeom prst="ellipse">
              <a:avLst/>
            </a:prstGeom>
            <a:solidFill>
              <a:srgbClr val="FDDADE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7"/>
            <p:cNvSpPr/>
            <p:nvPr/>
          </p:nvSpPr>
          <p:spPr>
            <a:xfrm>
              <a:off x="-1143000" y="285750"/>
              <a:ext cx="4572000" cy="4572000"/>
            </a:xfrm>
            <a:prstGeom prst="ellipse">
              <a:avLst/>
            </a:prstGeom>
            <a:solidFill>
              <a:srgbClr val="FCA2AE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7"/>
            <p:cNvSpPr/>
            <p:nvPr/>
          </p:nvSpPr>
          <p:spPr>
            <a:xfrm>
              <a:off x="-381000" y="1047750"/>
              <a:ext cx="3048000" cy="3048000"/>
            </a:xfrm>
            <a:prstGeom prst="ellipse">
              <a:avLst/>
            </a:prstGeom>
            <a:solidFill>
              <a:srgbClr val="F848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57"/>
          <p:cNvGrpSpPr/>
          <p:nvPr/>
        </p:nvGrpSpPr>
        <p:grpSpPr>
          <a:xfrm>
            <a:off x="6559486" y="-3620998"/>
            <a:ext cx="6096000" cy="6096000"/>
            <a:chOff x="-1905000" y="-476250"/>
            <a:chExt cx="6096000" cy="6096000"/>
          </a:xfrm>
        </p:grpSpPr>
        <p:sp>
          <p:nvSpPr>
            <p:cNvPr id="635" name="Google Shape;635;p57"/>
            <p:cNvSpPr/>
            <p:nvPr/>
          </p:nvSpPr>
          <p:spPr>
            <a:xfrm>
              <a:off x="-1905000" y="-476250"/>
              <a:ext cx="6096000" cy="6096000"/>
            </a:xfrm>
            <a:prstGeom prst="ellipse">
              <a:avLst/>
            </a:prstGeom>
            <a:solidFill>
              <a:srgbClr val="FDDADE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7"/>
            <p:cNvSpPr/>
            <p:nvPr/>
          </p:nvSpPr>
          <p:spPr>
            <a:xfrm>
              <a:off x="-1143000" y="285750"/>
              <a:ext cx="4572000" cy="4572000"/>
            </a:xfrm>
            <a:prstGeom prst="ellipse">
              <a:avLst/>
            </a:prstGeom>
            <a:solidFill>
              <a:srgbClr val="FCA2AE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7"/>
            <p:cNvSpPr/>
            <p:nvPr/>
          </p:nvSpPr>
          <p:spPr>
            <a:xfrm>
              <a:off x="-381000" y="1047750"/>
              <a:ext cx="3048000" cy="3048000"/>
            </a:xfrm>
            <a:prstGeom prst="ellipse">
              <a:avLst/>
            </a:prstGeom>
            <a:solidFill>
              <a:srgbClr val="F848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8" name="Google Shape;638;p57"/>
          <p:cNvSpPr/>
          <p:nvPr/>
        </p:nvSpPr>
        <p:spPr>
          <a:xfrm rot="-3599773">
            <a:off x="1612826" y="483100"/>
            <a:ext cx="1655211" cy="4177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7"/>
          <p:cNvSpPr/>
          <p:nvPr/>
        </p:nvSpPr>
        <p:spPr>
          <a:xfrm rot="-3599773">
            <a:off x="3716526" y="483100"/>
            <a:ext cx="1655211" cy="417732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7"/>
          <p:cNvSpPr/>
          <p:nvPr/>
        </p:nvSpPr>
        <p:spPr>
          <a:xfrm>
            <a:off x="635092" y="1239250"/>
            <a:ext cx="1509000" cy="267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100013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41" name="Google Shape;641;p57"/>
          <p:cNvGrpSpPr/>
          <p:nvPr/>
        </p:nvGrpSpPr>
        <p:grpSpPr>
          <a:xfrm>
            <a:off x="707413" y="2322982"/>
            <a:ext cx="1364056" cy="686420"/>
            <a:chOff x="6095999" y="1353864"/>
            <a:chExt cx="2196901" cy="763198"/>
          </a:xfrm>
        </p:grpSpPr>
        <p:sp>
          <p:nvSpPr>
            <p:cNvPr id="642" name="Google Shape;642;p57"/>
            <p:cNvSpPr txBox="1"/>
            <p:nvPr/>
          </p:nvSpPr>
          <p:spPr>
            <a:xfrm>
              <a:off x="6096000" y="1595362"/>
              <a:ext cx="2196900" cy="5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No duplicate Customer IDs (We found 50 duplicates)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643" name="Google Shape;643;p57"/>
            <p:cNvSpPr txBox="1"/>
            <p:nvPr/>
          </p:nvSpPr>
          <p:spPr>
            <a:xfrm>
              <a:off x="6095999" y="1353864"/>
              <a:ext cx="2196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Uniqueness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44" name="Google Shape;644;p57"/>
          <p:cNvSpPr/>
          <p:nvPr/>
        </p:nvSpPr>
        <p:spPr>
          <a:xfrm rot="-3599773">
            <a:off x="5816570" y="483099"/>
            <a:ext cx="1655211" cy="417732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7"/>
          <p:cNvSpPr/>
          <p:nvPr/>
        </p:nvSpPr>
        <p:spPr>
          <a:xfrm>
            <a:off x="2734516" y="1239250"/>
            <a:ext cx="1509000" cy="267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100013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6" name="Google Shape;646;p57"/>
          <p:cNvGrpSpPr/>
          <p:nvPr/>
        </p:nvGrpSpPr>
        <p:grpSpPr>
          <a:xfrm>
            <a:off x="2806837" y="2322982"/>
            <a:ext cx="1364056" cy="686420"/>
            <a:chOff x="6095999" y="1353864"/>
            <a:chExt cx="2196901" cy="763198"/>
          </a:xfrm>
        </p:grpSpPr>
        <p:sp>
          <p:nvSpPr>
            <p:cNvPr id="647" name="Google Shape;647;p57"/>
            <p:cNvSpPr txBox="1"/>
            <p:nvPr/>
          </p:nvSpPr>
          <p:spPr>
            <a:xfrm>
              <a:off x="6096000" y="1595362"/>
              <a:ext cx="2196900" cy="5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No missing fields in Email or Phone columns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648" name="Google Shape;648;p57"/>
            <p:cNvSpPr txBox="1"/>
            <p:nvPr/>
          </p:nvSpPr>
          <p:spPr>
            <a:xfrm>
              <a:off x="6095999" y="1353864"/>
              <a:ext cx="2196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Completeness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49" name="Google Shape;649;p57"/>
          <p:cNvSpPr/>
          <p:nvPr/>
        </p:nvSpPr>
        <p:spPr>
          <a:xfrm>
            <a:off x="4833940" y="1239250"/>
            <a:ext cx="1509000" cy="267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100013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57"/>
          <p:cNvGrpSpPr/>
          <p:nvPr/>
        </p:nvGrpSpPr>
        <p:grpSpPr>
          <a:xfrm>
            <a:off x="4906261" y="2322982"/>
            <a:ext cx="1364056" cy="686420"/>
            <a:chOff x="6095999" y="1353864"/>
            <a:chExt cx="2196901" cy="763198"/>
          </a:xfrm>
        </p:grpSpPr>
        <p:sp>
          <p:nvSpPr>
            <p:cNvPr id="651" name="Google Shape;651;p57"/>
            <p:cNvSpPr txBox="1"/>
            <p:nvPr/>
          </p:nvSpPr>
          <p:spPr>
            <a:xfrm>
              <a:off x="6096000" y="1595362"/>
              <a:ext cx="2196900" cy="5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Data must follow standard formats (e.g., +966 for phones)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652" name="Google Shape;652;p57"/>
            <p:cNvSpPr txBox="1"/>
            <p:nvPr/>
          </p:nvSpPr>
          <p:spPr>
            <a:xfrm>
              <a:off x="6095999" y="1353864"/>
              <a:ext cx="2196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Validity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53" name="Google Shape;653;p57"/>
          <p:cNvSpPr/>
          <p:nvPr/>
        </p:nvSpPr>
        <p:spPr>
          <a:xfrm>
            <a:off x="6933365" y="1239250"/>
            <a:ext cx="1509000" cy="267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100013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57"/>
          <p:cNvGrpSpPr/>
          <p:nvPr/>
        </p:nvGrpSpPr>
        <p:grpSpPr>
          <a:xfrm>
            <a:off x="7005686" y="2322982"/>
            <a:ext cx="1364056" cy="686420"/>
            <a:chOff x="6095999" y="1353864"/>
            <a:chExt cx="2196901" cy="763198"/>
          </a:xfrm>
        </p:grpSpPr>
        <p:sp>
          <p:nvSpPr>
            <p:cNvPr id="655" name="Google Shape;655;p57"/>
            <p:cNvSpPr txBox="1"/>
            <p:nvPr/>
          </p:nvSpPr>
          <p:spPr>
            <a:xfrm>
              <a:off x="6096000" y="1595362"/>
              <a:ext cx="2196900" cy="5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Information matches the real-world customer identity</a:t>
              </a:r>
              <a:endPara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656" name="Google Shape;656;p57"/>
            <p:cNvSpPr txBox="1"/>
            <p:nvPr/>
          </p:nvSpPr>
          <p:spPr>
            <a:xfrm>
              <a:off x="6095999" y="1353864"/>
              <a:ext cx="2196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Accuracy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57" name="Google Shape;657;p57"/>
          <p:cNvSpPr txBox="1"/>
          <p:nvPr>
            <p:ph idx="4294967295"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Quality Dimensions</a:t>
            </a:r>
            <a:endParaRPr/>
          </a:p>
        </p:txBody>
      </p:sp>
      <p:pic>
        <p:nvPicPr>
          <p:cNvPr descr="change the color to #f8485e" id="658" name="Google Shape;65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375" y="1487738"/>
            <a:ext cx="686426" cy="68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5237" y="1487750"/>
            <a:ext cx="686426" cy="6864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0" name="Google Shape;66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800" y="1487738"/>
            <a:ext cx="686450" cy="6864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1" name="Google Shape;661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0100" y="1413350"/>
            <a:ext cx="835226" cy="83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8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GB" sz="10000"/>
              <a:t>04</a:t>
            </a:r>
            <a:endParaRPr sz="10000"/>
          </a:p>
        </p:txBody>
      </p:sp>
      <p:sp>
        <p:nvSpPr>
          <p:cNvPr id="667" name="Google Shape;667;p58"/>
          <p:cNvSpPr txBox="1"/>
          <p:nvPr>
            <p:ph idx="2" type="title"/>
          </p:nvPr>
        </p:nvSpPr>
        <p:spPr>
          <a:xfrm>
            <a:off x="3648600" y="2051700"/>
            <a:ext cx="53427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Technical Profiling &amp; Finding Insights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9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4724329" y="1170383"/>
            <a:ext cx="4110696" cy="34514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3" name="Google Shape;673;p59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309129" y="1170383"/>
            <a:ext cx="4110696" cy="34514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4" name="Google Shape;674;p5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Technical Profiling &amp; Finding Insights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image.png" id="675" name="Google Shape;67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292" y="1227333"/>
            <a:ext cx="4110696" cy="344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000" y="1227333"/>
            <a:ext cx="4110696" cy="3448417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9"/>
          <p:cNvSpPr txBox="1"/>
          <p:nvPr/>
        </p:nvSpPr>
        <p:spPr>
          <a:xfrm>
            <a:off x="857094" y="1463318"/>
            <a:ext cx="349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F848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Duplicate Clusters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8" name="Google Shape;678;p59"/>
          <p:cNvSpPr txBox="1"/>
          <p:nvPr/>
        </p:nvSpPr>
        <p:spPr>
          <a:xfrm>
            <a:off x="544985" y="1859162"/>
            <a:ext cx="36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Customer_ID uniqueness is compromised; 50 primary keys are reused across distinct geographic profiles, distorting reporting accuracy. 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79" name="Google Shape;679;p59"/>
          <p:cNvSpPr txBox="1"/>
          <p:nvPr/>
        </p:nvSpPr>
        <p:spPr>
          <a:xfrm>
            <a:off x="5249455" y="1463318"/>
            <a:ext cx="351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848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Timeline Integrity Issues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0" name="Google Shape;680;p59"/>
          <p:cNvSpPr txBox="1"/>
          <p:nvPr/>
        </p:nvSpPr>
        <p:spPr>
          <a:xfrm>
            <a:off x="4960183" y="1859162"/>
            <a:ext cx="36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1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Temporal profiling reveals registration dates that defy logic, indicating system clock errors or entry glitches.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681" name="Google Shape;681;p59"/>
          <p:cNvPicPr preferRelativeResize="0"/>
          <p:nvPr/>
        </p:nvPicPr>
        <p:blipFill rotWithShape="1">
          <a:blip r:embed="rId5">
            <a:alphaModFix/>
          </a:blip>
          <a:srcRect b="0" l="20" r="20" t="0"/>
          <a:stretch/>
        </p:blipFill>
        <p:spPr>
          <a:xfrm>
            <a:off x="544985" y="1486155"/>
            <a:ext cx="220759" cy="197977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9"/>
          <p:cNvSpPr txBox="1"/>
          <p:nvPr/>
        </p:nvSpPr>
        <p:spPr>
          <a:xfrm>
            <a:off x="544975" y="2365173"/>
            <a:ext cx="566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r>
            <a:endParaRPr b="1" sz="117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59"/>
          <p:cNvSpPr txBox="1"/>
          <p:nvPr/>
        </p:nvSpPr>
        <p:spPr>
          <a:xfrm>
            <a:off x="1111378" y="2493400"/>
            <a:ext cx="888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DUPLICATED</a:t>
            </a:r>
            <a:br>
              <a:rPr b="1" i="0" lang="en-GB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IDENTIFIERS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4" name="Google Shape;684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0183" y="1486155"/>
            <a:ext cx="197923" cy="197923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9"/>
          <p:cNvSpPr txBox="1"/>
          <p:nvPr/>
        </p:nvSpPr>
        <p:spPr>
          <a:xfrm>
            <a:off x="4960183" y="2365179"/>
            <a:ext cx="725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rPr>
              <a:t>63</a:t>
            </a:r>
            <a:endParaRPr b="1" sz="117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6" name="Google Shape;686;p59"/>
          <p:cNvSpPr txBox="1"/>
          <p:nvPr/>
        </p:nvSpPr>
        <p:spPr>
          <a:xfrm>
            <a:off x="5528957" y="2475873"/>
            <a:ext cx="812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TIMELINE</a:t>
            </a:r>
            <a:br>
              <a:rPr b="1" i="0" lang="en-GB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ANOMALIES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7" name="Google Shape;687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3348" y="3113497"/>
            <a:ext cx="2642002" cy="118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6024" y="3113500"/>
            <a:ext cx="3807300" cy="113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0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4724254" y="1170383"/>
            <a:ext cx="4110696" cy="34514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4" name="Google Shape;694;p60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337404" y="1170383"/>
            <a:ext cx="4110696" cy="34514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695" name="Google Shape;695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404" y="1227333"/>
            <a:ext cx="4110696" cy="3448417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60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Technical Profiling &amp; Finding Insights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image.png" id="697" name="Google Shape;69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367" y="1227333"/>
            <a:ext cx="4110696" cy="3448417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 txBox="1"/>
          <p:nvPr/>
        </p:nvSpPr>
        <p:spPr>
          <a:xfrm>
            <a:off x="834306" y="1463318"/>
            <a:ext cx="351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F848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Invalid Email Strings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9" name="Google Shape;699;p60"/>
          <p:cNvSpPr txBox="1"/>
          <p:nvPr/>
        </p:nvSpPr>
        <p:spPr>
          <a:xfrm>
            <a:off x="545034" y="1859162"/>
            <a:ext cx="36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Montserrat Light"/>
                <a:ea typeface="Montserrat Light"/>
                <a:cs typeface="Montserrat Light"/>
                <a:sym typeface="Montserrat Light"/>
              </a:rPr>
              <a:t>Dummy placeholders (email@invalid) were used to manually circumvent mandatory field constraints, compromising data integrity. </a:t>
            </a:r>
            <a:endParaRPr sz="11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00" name="Google Shape;700;p60"/>
          <p:cNvSpPr txBox="1"/>
          <p:nvPr/>
        </p:nvSpPr>
        <p:spPr>
          <a:xfrm>
            <a:off x="5226660" y="1463318"/>
            <a:ext cx="3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848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Unreachable Phone Data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1" name="Google Shape;701;p60"/>
          <p:cNvSpPr txBox="1"/>
          <p:nvPr/>
        </p:nvSpPr>
        <p:spPr>
          <a:xfrm>
            <a:off x="4960226" y="1859162"/>
            <a:ext cx="36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Montserrat Light"/>
                <a:ea typeface="Montserrat Light"/>
                <a:cs typeface="Montserrat Light"/>
                <a:sym typeface="Montserrat Light"/>
              </a:rPr>
              <a:t>132 records found with 'Invalid' text, internal extensions (x), and lengths that are universally impossible. </a:t>
            </a:r>
            <a:endParaRPr sz="11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descr="image.png" id="702" name="Google Shape;70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034" y="1486155"/>
            <a:ext cx="197922" cy="197922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60"/>
          <p:cNvSpPr txBox="1"/>
          <p:nvPr/>
        </p:nvSpPr>
        <p:spPr>
          <a:xfrm>
            <a:off x="545025" y="2365173"/>
            <a:ext cx="649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rPr>
              <a:t>62 </a:t>
            </a:r>
            <a:endParaRPr b="1" sz="117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60"/>
          <p:cNvSpPr txBox="1"/>
          <p:nvPr/>
        </p:nvSpPr>
        <p:spPr>
          <a:xfrm>
            <a:off x="1108750" y="2472398"/>
            <a:ext cx="1037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HARDCODED</a:t>
            </a:r>
            <a:br>
              <a:rPr b="1" i="0" lang="en-GB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PLACEHOLDERS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705" name="Google Shape;705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0226" y="1486155"/>
            <a:ext cx="175085" cy="197922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60"/>
          <p:cNvSpPr txBox="1"/>
          <p:nvPr/>
        </p:nvSpPr>
        <p:spPr>
          <a:xfrm>
            <a:off x="4960226" y="2357554"/>
            <a:ext cx="799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rPr>
              <a:t>132</a:t>
            </a:r>
            <a:endParaRPr b="1" sz="117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60"/>
          <p:cNvSpPr txBox="1"/>
          <p:nvPr/>
        </p:nvSpPr>
        <p:spPr>
          <a:xfrm>
            <a:off x="5601225" y="2472400"/>
            <a:ext cx="1136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br>
              <a:rPr b="1" i="0" lang="en-GB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GB" sz="900" u="none" cap="none" strike="noStrike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UNREACHABILITY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8" name="Google Shape;708;p60"/>
          <p:cNvPicPr preferRelativeResize="0"/>
          <p:nvPr/>
        </p:nvPicPr>
        <p:blipFill rotWithShape="1">
          <a:blip r:embed="rId7">
            <a:alphaModFix/>
          </a:blip>
          <a:srcRect b="4159" l="0" r="0" t="0"/>
          <a:stretch/>
        </p:blipFill>
        <p:spPr>
          <a:xfrm>
            <a:off x="5046375" y="2938425"/>
            <a:ext cx="3466450" cy="137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250" y="3059112"/>
            <a:ext cx="3639000" cy="1193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61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4724379" y="1170383"/>
            <a:ext cx="4110696" cy="34514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5" name="Google Shape;715;p61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337404" y="1170383"/>
            <a:ext cx="4110696" cy="34514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716" name="Google Shape;71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404" y="1227333"/>
            <a:ext cx="4110696" cy="3448417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Technical Profiling &amp; Finding Insights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image.png" id="718" name="Google Shape;71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242" y="1227333"/>
            <a:ext cx="4110696" cy="3448417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1"/>
          <p:cNvSpPr txBox="1"/>
          <p:nvPr/>
        </p:nvSpPr>
        <p:spPr>
          <a:xfrm>
            <a:off x="834306" y="1463318"/>
            <a:ext cx="351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848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 &amp; Name Profiling</a:t>
            </a:r>
            <a:endParaRPr sz="1800">
              <a:solidFill>
                <a:srgbClr val="F8485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0" name="Google Shape;720;p61"/>
          <p:cNvSpPr txBox="1"/>
          <p:nvPr/>
        </p:nvSpPr>
        <p:spPr>
          <a:xfrm>
            <a:off x="545034" y="1859162"/>
            <a:ext cx="36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Age distribution analysis indicates extreme values from manual entry bypass or default errors, alongside invalid entries in the name field.</a:t>
            </a:r>
            <a:endParaRPr/>
          </a:p>
        </p:txBody>
      </p:sp>
      <p:sp>
        <p:nvSpPr>
          <p:cNvPr id="721" name="Google Shape;721;p61"/>
          <p:cNvSpPr txBox="1"/>
          <p:nvPr/>
        </p:nvSpPr>
        <p:spPr>
          <a:xfrm>
            <a:off x="5226663" y="1463316"/>
            <a:ext cx="35412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848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Null Values &amp; Empty Fields</a:t>
            </a:r>
            <a:endParaRPr sz="1800">
              <a:solidFill>
                <a:srgbClr val="F8485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2" name="Google Shape;722;p61"/>
          <p:cNvSpPr txBox="1"/>
          <p:nvPr/>
        </p:nvSpPr>
        <p:spPr>
          <a:xfrm>
            <a:off x="4960229" y="1859166"/>
            <a:ext cx="36390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analysis identifies significant gaps in mandatory data fields, where null values and empty strings compromise record completeness.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23" name="Google Shape;723;p61"/>
          <p:cNvSpPr txBox="1"/>
          <p:nvPr/>
        </p:nvSpPr>
        <p:spPr>
          <a:xfrm>
            <a:off x="545025" y="2365173"/>
            <a:ext cx="799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200</a:t>
            </a:r>
            <a:endParaRPr b="1" sz="117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61"/>
          <p:cNvSpPr txBox="1"/>
          <p:nvPr/>
        </p:nvSpPr>
        <p:spPr>
          <a:xfrm>
            <a:off x="1344525" y="2476548"/>
            <a:ext cx="9561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Inaccurate Ages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61"/>
          <p:cNvSpPr txBox="1"/>
          <p:nvPr/>
        </p:nvSpPr>
        <p:spPr>
          <a:xfrm>
            <a:off x="4960225" y="2357548"/>
            <a:ext cx="555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58</a:t>
            </a:r>
            <a:endParaRPr b="1" sz="117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61"/>
          <p:cNvSpPr txBox="1"/>
          <p:nvPr/>
        </p:nvSpPr>
        <p:spPr>
          <a:xfrm>
            <a:off x="5515827" y="2482157"/>
            <a:ext cx="1037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b="1" sz="900">
              <a:solidFill>
                <a:srgbClr val="F8485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Points</a:t>
            </a:r>
            <a:endParaRPr b="1" sz="900">
              <a:solidFill>
                <a:srgbClr val="F848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7" name="Google Shape;727;p61"/>
          <p:cNvPicPr preferRelativeResize="0"/>
          <p:nvPr/>
        </p:nvPicPr>
        <p:blipFill rotWithShape="1">
          <a:blip r:embed="rId5">
            <a:alphaModFix/>
          </a:blip>
          <a:srcRect b="0" l="40" r="30" t="0"/>
          <a:stretch/>
        </p:blipFill>
        <p:spPr>
          <a:xfrm>
            <a:off x="545024" y="1487363"/>
            <a:ext cx="251200" cy="19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475" y="3117300"/>
            <a:ext cx="3864550" cy="13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1"/>
          <p:cNvSpPr txBox="1"/>
          <p:nvPr/>
        </p:nvSpPr>
        <p:spPr>
          <a:xfrm>
            <a:off x="4960220" y="151223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30">
                <a:solidFill>
                  <a:srgbClr val="F8485E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fmd_bad</a:t>
            </a:r>
            <a:endParaRPr sz="1530">
              <a:solidFill>
                <a:srgbClr val="F8485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730" name="Google Shape;730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1396" y="3117294"/>
            <a:ext cx="3676653" cy="11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1"/>
          <p:cNvSpPr txBox="1"/>
          <p:nvPr/>
        </p:nvSpPr>
        <p:spPr>
          <a:xfrm>
            <a:off x="2300625" y="2365175"/>
            <a:ext cx="29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117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61"/>
          <p:cNvSpPr txBox="1"/>
          <p:nvPr/>
        </p:nvSpPr>
        <p:spPr>
          <a:xfrm>
            <a:off x="2591925" y="2485673"/>
            <a:ext cx="9561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Inaccurate </a:t>
            </a:r>
            <a:endParaRPr b="1" sz="900">
              <a:solidFill>
                <a:srgbClr val="F8485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8485E"/>
                </a:solidFill>
                <a:latin typeface="Montserrat"/>
                <a:ea typeface="Montserrat"/>
                <a:cs typeface="Montserrat"/>
                <a:sym typeface="Montserrat"/>
              </a:rPr>
              <a:t>Names</a:t>
            </a:r>
            <a:endParaRPr b="1" sz="900">
              <a:solidFill>
                <a:srgbClr val="F848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GB" sz="10000"/>
              <a:t>05</a:t>
            </a:r>
            <a:endParaRPr sz="10000"/>
          </a:p>
        </p:txBody>
      </p:sp>
      <p:sp>
        <p:nvSpPr>
          <p:cNvPr id="738" name="Google Shape;738;p62"/>
          <p:cNvSpPr txBox="1"/>
          <p:nvPr>
            <p:ph idx="2" type="title"/>
          </p:nvPr>
        </p:nvSpPr>
        <p:spPr>
          <a:xfrm>
            <a:off x="3648600" y="2051700"/>
            <a:ext cx="53772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Strategic Recommendations &amp; Roadmap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3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Strategic Recommendations &amp; Roadmap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4" name="Google Shape;744;p63"/>
          <p:cNvSpPr/>
          <p:nvPr/>
        </p:nvSpPr>
        <p:spPr>
          <a:xfrm>
            <a:off x="526800" y="2667000"/>
            <a:ext cx="8077200" cy="2095500"/>
          </a:xfrm>
          <a:prstGeom prst="roundRect">
            <a:avLst>
              <a:gd fmla="val 5454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3"/>
          <p:cNvSpPr txBox="1"/>
          <p:nvPr/>
        </p:nvSpPr>
        <p:spPr>
          <a:xfrm>
            <a:off x="762000" y="2857500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ROADMAP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6" name="Google Shape;746;p63"/>
          <p:cNvCxnSpPr/>
          <p:nvPr/>
        </p:nvCxnSpPr>
        <p:spPr>
          <a:xfrm rot="10800000">
            <a:off x="4572000" y="-381000"/>
            <a:ext cx="0" cy="7620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chemeClr val="dk2">
                <a:alpha val="3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7" name="Google Shape;747;p63"/>
          <p:cNvSpPr/>
          <p:nvPr/>
        </p:nvSpPr>
        <p:spPr>
          <a:xfrm>
            <a:off x="895350" y="3371850"/>
            <a:ext cx="114300" cy="114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3"/>
          <p:cNvSpPr/>
          <p:nvPr/>
        </p:nvSpPr>
        <p:spPr>
          <a:xfrm>
            <a:off x="3371850" y="3371850"/>
            <a:ext cx="114300" cy="114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63"/>
          <p:cNvSpPr/>
          <p:nvPr/>
        </p:nvSpPr>
        <p:spPr>
          <a:xfrm>
            <a:off x="5848350" y="3371850"/>
            <a:ext cx="114300" cy="114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3"/>
          <p:cNvSpPr txBox="1"/>
          <p:nvPr/>
        </p:nvSpPr>
        <p:spPr>
          <a:xfrm>
            <a:off x="952500" y="3571875"/>
            <a:ext cx="20955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PHASE 1 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Correction 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Fix the past: Clean 1,000 records and remove placeholders.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51" name="Google Shape;751;p63"/>
          <p:cNvSpPr txBox="1"/>
          <p:nvPr/>
        </p:nvSpPr>
        <p:spPr>
          <a:xfrm>
            <a:off x="3429000" y="3571875"/>
            <a:ext cx="20955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PHASE 2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Standards 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Secure the present: Unified validation across all platforms.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52" name="Google Shape;752;p63"/>
          <p:cNvSpPr txBox="1"/>
          <p:nvPr/>
        </p:nvSpPr>
        <p:spPr>
          <a:xfrm>
            <a:off x="5905500" y="3571875"/>
            <a:ext cx="20955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PHASE 3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Monitoring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Protect the future: Live dashboards for real-time audits.</a:t>
            </a:r>
            <a:endParaRPr sz="9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753" name="Google Shape;75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000" y="1308300"/>
            <a:ext cx="333025" cy="32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4" name="Google Shape;754;p63"/>
          <p:cNvGrpSpPr/>
          <p:nvPr/>
        </p:nvGrpSpPr>
        <p:grpSpPr>
          <a:xfrm>
            <a:off x="533400" y="1143000"/>
            <a:ext cx="8077350" cy="1333500"/>
            <a:chOff x="533400" y="1143000"/>
            <a:chExt cx="8077350" cy="1333500"/>
          </a:xfrm>
        </p:grpSpPr>
        <p:pic>
          <p:nvPicPr>
            <p:cNvPr id="755" name="Google Shape;755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0" y="1143000"/>
              <a:ext cx="25719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63"/>
            <p:cNvSpPr/>
            <p:nvPr/>
          </p:nvSpPr>
          <p:spPr>
            <a:xfrm>
              <a:off x="533400" y="1143000"/>
              <a:ext cx="381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3"/>
            <p:cNvSpPr txBox="1"/>
            <p:nvPr/>
          </p:nvSpPr>
          <p:spPr>
            <a:xfrm>
              <a:off x="723900" y="1320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848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400">
                <a:solidFill>
                  <a:srgbClr val="F848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8" name="Google Shape;758;p63"/>
            <p:cNvSpPr txBox="1"/>
            <p:nvPr/>
          </p:nvSpPr>
          <p:spPr>
            <a:xfrm>
              <a:off x="723900" y="1666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GOVERNANCE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Align IKEA data standards with NDMO &amp; SDAIA frameworks for full PDPL compliance.</a:t>
              </a:r>
              <a:endParaRPr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pic>
          <p:nvPicPr>
            <p:cNvPr id="759" name="Google Shape;759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86125" y="1143000"/>
              <a:ext cx="25719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" name="Google Shape;760;p63"/>
            <p:cNvSpPr/>
            <p:nvPr/>
          </p:nvSpPr>
          <p:spPr>
            <a:xfrm>
              <a:off x="3286125" y="1143000"/>
              <a:ext cx="38100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1" name="Google Shape;761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38850" y="1143000"/>
              <a:ext cx="25719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2" name="Google Shape;762;p63"/>
            <p:cNvSpPr/>
            <p:nvPr/>
          </p:nvSpPr>
          <p:spPr>
            <a:xfrm>
              <a:off x="6038850" y="1143000"/>
              <a:ext cx="38100" cy="13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3"/>
            <p:cNvSpPr txBox="1"/>
            <p:nvPr/>
          </p:nvSpPr>
          <p:spPr>
            <a:xfrm>
              <a:off x="6229350" y="1666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IDENTITY FIX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Resolve 50+ identity collisions by re-assigning unique IDs to ensure a single "Golden Customer Identity”. </a:t>
              </a:r>
              <a:endParaRPr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764" name="Google Shape;764;p63"/>
            <p:cNvSpPr txBox="1"/>
            <p:nvPr/>
          </p:nvSpPr>
          <p:spPr>
            <a:xfrm>
              <a:off x="3476625" y="1666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VALIDATION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Deploy real-time automated validation for mobile numbers and email formats.</a:t>
              </a:r>
              <a:endParaRPr sz="9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765" name="Google Shape;765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6143" y="1343568"/>
            <a:ext cx="296426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63"/>
          <p:cNvPicPr preferRelativeResize="0"/>
          <p:nvPr/>
        </p:nvPicPr>
        <p:blipFill rotWithShape="1">
          <a:blip r:embed="rId6">
            <a:alphaModFix/>
          </a:blip>
          <a:srcRect b="1238" l="0" r="0" t="1248"/>
          <a:stretch/>
        </p:blipFill>
        <p:spPr>
          <a:xfrm>
            <a:off x="6223900" y="1333125"/>
            <a:ext cx="296425" cy="2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4"/>
          <p:cNvSpPr txBox="1"/>
          <p:nvPr>
            <p:ph type="title"/>
          </p:nvPr>
        </p:nvSpPr>
        <p:spPr>
          <a:xfrm>
            <a:off x="1378200" y="1590900"/>
            <a:ext cx="1732200" cy="19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GB" sz="10000"/>
              <a:t>06</a:t>
            </a:r>
            <a:endParaRPr sz="10000"/>
          </a:p>
        </p:txBody>
      </p:sp>
      <p:sp>
        <p:nvSpPr>
          <p:cNvPr id="772" name="Google Shape;772;p64"/>
          <p:cNvSpPr txBox="1"/>
          <p:nvPr>
            <p:ph idx="2" type="title"/>
          </p:nvPr>
        </p:nvSpPr>
        <p:spPr>
          <a:xfrm>
            <a:off x="3648600" y="2244550"/>
            <a:ext cx="5377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720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Conclusion &amp; Q&amp;A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5"/>
          <p:cNvSpPr/>
          <p:nvPr/>
        </p:nvSpPr>
        <p:spPr>
          <a:xfrm>
            <a:off x="730050" y="4212000"/>
            <a:ext cx="7625100" cy="432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78" name="Google Shape;778;p6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Conclusion &amp; Q&amp;A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9" name="Google Shape;779;p65"/>
          <p:cNvSpPr/>
          <p:nvPr/>
        </p:nvSpPr>
        <p:spPr>
          <a:xfrm>
            <a:off x="761045" y="1446218"/>
            <a:ext cx="2085365" cy="1420802"/>
          </a:xfrm>
          <a:custGeom>
            <a:rect b="b" l="l" r="r" t="t"/>
            <a:pathLst>
              <a:path extrusionOk="0" h="21587" w="20850">
                <a:moveTo>
                  <a:pt x="20690" y="3852"/>
                </a:moveTo>
                <a:lnTo>
                  <a:pt x="15864" y="19995"/>
                </a:lnTo>
                <a:cubicBezTo>
                  <a:pt x="15577" y="20971"/>
                  <a:pt x="14935" y="21587"/>
                  <a:pt x="14233" y="21587"/>
                </a:cubicBezTo>
                <a:lnTo>
                  <a:pt x="1794" y="21587"/>
                </a:lnTo>
                <a:cubicBezTo>
                  <a:pt x="492" y="21587"/>
                  <a:pt x="-378" y="19532"/>
                  <a:pt x="163" y="17734"/>
                </a:cubicBezTo>
                <a:lnTo>
                  <a:pt x="4988" y="1592"/>
                </a:lnTo>
                <a:cubicBezTo>
                  <a:pt x="5276" y="616"/>
                  <a:pt x="5918" y="0"/>
                  <a:pt x="6619" y="0"/>
                </a:cubicBezTo>
                <a:lnTo>
                  <a:pt x="19059" y="0"/>
                </a:lnTo>
                <a:cubicBezTo>
                  <a:pt x="20360" y="-13"/>
                  <a:pt x="21222" y="2042"/>
                  <a:pt x="20690" y="38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1425" lIns="21425" spcFirstLastPara="1" rIns="21425" wrap="square" tIns="2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5"/>
          <p:cNvSpPr/>
          <p:nvPr/>
        </p:nvSpPr>
        <p:spPr>
          <a:xfrm>
            <a:off x="4674392" y="1446218"/>
            <a:ext cx="2086532" cy="1420802"/>
          </a:xfrm>
          <a:custGeom>
            <a:rect b="b" l="l" r="r" t="t"/>
            <a:pathLst>
              <a:path extrusionOk="0" h="21587" w="20845">
                <a:moveTo>
                  <a:pt x="20683" y="3852"/>
                </a:moveTo>
                <a:lnTo>
                  <a:pt x="15861" y="19995"/>
                </a:lnTo>
                <a:cubicBezTo>
                  <a:pt x="15574" y="20971"/>
                  <a:pt x="14932" y="21587"/>
                  <a:pt x="14231" y="21587"/>
                </a:cubicBezTo>
                <a:lnTo>
                  <a:pt x="1793" y="21587"/>
                </a:lnTo>
                <a:cubicBezTo>
                  <a:pt x="493" y="21587"/>
                  <a:pt x="-377" y="19532"/>
                  <a:pt x="163" y="17734"/>
                </a:cubicBezTo>
                <a:lnTo>
                  <a:pt x="4985" y="1592"/>
                </a:lnTo>
                <a:cubicBezTo>
                  <a:pt x="5272" y="616"/>
                  <a:pt x="5914" y="0"/>
                  <a:pt x="6615" y="0"/>
                </a:cubicBezTo>
                <a:lnTo>
                  <a:pt x="19044" y="0"/>
                </a:lnTo>
                <a:cubicBezTo>
                  <a:pt x="20353" y="-13"/>
                  <a:pt x="21223" y="2042"/>
                  <a:pt x="20683" y="38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21425" lIns="21425" spcFirstLastPara="1" rIns="21425" wrap="square" tIns="2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5"/>
          <p:cNvSpPr/>
          <p:nvPr/>
        </p:nvSpPr>
        <p:spPr>
          <a:xfrm>
            <a:off x="2392310" y="2240719"/>
            <a:ext cx="2085646" cy="1420848"/>
          </a:xfrm>
          <a:custGeom>
            <a:rect b="b" l="l" r="r" t="t"/>
            <a:pathLst>
              <a:path extrusionOk="0" h="21600" w="20845">
                <a:moveTo>
                  <a:pt x="20681" y="3855"/>
                </a:moveTo>
                <a:lnTo>
                  <a:pt x="15858" y="20007"/>
                </a:lnTo>
                <a:cubicBezTo>
                  <a:pt x="15571" y="20983"/>
                  <a:pt x="14929" y="21600"/>
                  <a:pt x="14228" y="21600"/>
                </a:cubicBezTo>
                <a:lnTo>
                  <a:pt x="1793" y="21600"/>
                </a:lnTo>
                <a:cubicBezTo>
                  <a:pt x="492" y="21600"/>
                  <a:pt x="-378" y="19544"/>
                  <a:pt x="163" y="17745"/>
                </a:cubicBezTo>
                <a:lnTo>
                  <a:pt x="4986" y="1593"/>
                </a:lnTo>
                <a:cubicBezTo>
                  <a:pt x="5273" y="617"/>
                  <a:pt x="5915" y="0"/>
                  <a:pt x="6616" y="0"/>
                </a:cubicBezTo>
                <a:lnTo>
                  <a:pt x="19051" y="0"/>
                </a:lnTo>
                <a:cubicBezTo>
                  <a:pt x="20352" y="0"/>
                  <a:pt x="21222" y="2056"/>
                  <a:pt x="20681" y="38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1425" lIns="21425" spcFirstLastPara="1" rIns="21425" wrap="square" tIns="2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5"/>
          <p:cNvSpPr/>
          <p:nvPr/>
        </p:nvSpPr>
        <p:spPr>
          <a:xfrm>
            <a:off x="6297204" y="2240719"/>
            <a:ext cx="2085747" cy="1420848"/>
          </a:xfrm>
          <a:custGeom>
            <a:rect b="b" l="l" r="r" t="t"/>
            <a:pathLst>
              <a:path extrusionOk="0" h="21600" w="20846">
                <a:moveTo>
                  <a:pt x="20681" y="3855"/>
                </a:moveTo>
                <a:lnTo>
                  <a:pt x="15858" y="20007"/>
                </a:lnTo>
                <a:cubicBezTo>
                  <a:pt x="15571" y="20983"/>
                  <a:pt x="14929" y="21600"/>
                  <a:pt x="14228" y="21600"/>
                </a:cubicBezTo>
                <a:lnTo>
                  <a:pt x="1793" y="21600"/>
                </a:lnTo>
                <a:cubicBezTo>
                  <a:pt x="492" y="21600"/>
                  <a:pt x="-378" y="19544"/>
                  <a:pt x="163" y="17745"/>
                </a:cubicBezTo>
                <a:lnTo>
                  <a:pt x="4986" y="1593"/>
                </a:lnTo>
                <a:cubicBezTo>
                  <a:pt x="5273" y="617"/>
                  <a:pt x="5915" y="0"/>
                  <a:pt x="6616" y="0"/>
                </a:cubicBezTo>
                <a:lnTo>
                  <a:pt x="19051" y="0"/>
                </a:lnTo>
                <a:cubicBezTo>
                  <a:pt x="20360" y="0"/>
                  <a:pt x="21222" y="2056"/>
                  <a:pt x="20681" y="385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21425" lIns="21425" spcFirstLastPara="1" rIns="21425" wrap="square" tIns="2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5"/>
          <p:cNvSpPr/>
          <p:nvPr/>
        </p:nvSpPr>
        <p:spPr>
          <a:xfrm>
            <a:off x="761045" y="3073009"/>
            <a:ext cx="1302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Explored global Data Quality dimensions and their business impact.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84" name="Google Shape;784;p65"/>
          <p:cNvSpPr/>
          <p:nvPr/>
        </p:nvSpPr>
        <p:spPr>
          <a:xfrm>
            <a:off x="3175904" y="1269870"/>
            <a:ext cx="1302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Profiled 1,000 IKEA customer records for technical accuracy.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85" name="Google Shape;785;p65"/>
          <p:cNvSpPr/>
          <p:nvPr/>
        </p:nvSpPr>
        <p:spPr>
          <a:xfrm>
            <a:off x="4673226" y="3073009"/>
            <a:ext cx="1302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Detected critical anomalies in identity, contactability, and logic.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86" name="Google Shape;786;p65"/>
          <p:cNvSpPr/>
          <p:nvPr/>
        </p:nvSpPr>
        <p:spPr>
          <a:xfrm>
            <a:off x="7084151" y="1269870"/>
            <a:ext cx="1302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Delivered a strategic roadmap to ensure a "Single Source of Truth.</a:t>
            </a:r>
            <a:endParaRPr sz="11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87" name="Google Shape;787;p65"/>
          <p:cNvSpPr txBox="1"/>
          <p:nvPr/>
        </p:nvSpPr>
        <p:spPr>
          <a:xfrm>
            <a:off x="1990849" y="1584625"/>
            <a:ext cx="613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65"/>
          <p:cNvSpPr txBox="1"/>
          <p:nvPr/>
        </p:nvSpPr>
        <p:spPr>
          <a:xfrm>
            <a:off x="1033420" y="2324539"/>
            <a:ext cx="1311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DQ Framework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9" name="Google Shape;789;p65"/>
          <p:cNvSpPr txBox="1"/>
          <p:nvPr/>
        </p:nvSpPr>
        <p:spPr>
          <a:xfrm>
            <a:off x="5773400" y="1584625"/>
            <a:ext cx="74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0" name="Google Shape;790;p65"/>
          <p:cNvSpPr txBox="1"/>
          <p:nvPr/>
        </p:nvSpPr>
        <p:spPr>
          <a:xfrm>
            <a:off x="4946766" y="2324539"/>
            <a:ext cx="1311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Findings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65"/>
          <p:cNvSpPr txBox="1"/>
          <p:nvPr/>
        </p:nvSpPr>
        <p:spPr>
          <a:xfrm>
            <a:off x="3568088" y="2379125"/>
            <a:ext cx="668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65"/>
          <p:cNvSpPr txBox="1"/>
          <p:nvPr/>
        </p:nvSpPr>
        <p:spPr>
          <a:xfrm>
            <a:off x="2664684" y="3119040"/>
            <a:ext cx="1311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Audit Scope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65"/>
          <p:cNvSpPr txBox="1"/>
          <p:nvPr/>
        </p:nvSpPr>
        <p:spPr>
          <a:xfrm>
            <a:off x="7395175" y="2379125"/>
            <a:ext cx="74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4" name="Google Shape;794;p65"/>
          <p:cNvSpPr txBox="1"/>
          <p:nvPr/>
        </p:nvSpPr>
        <p:spPr>
          <a:xfrm>
            <a:off x="6569579" y="3119040"/>
            <a:ext cx="1311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Final Outcome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" name="Google Shape;795;p65"/>
          <p:cNvSpPr/>
          <p:nvPr/>
        </p:nvSpPr>
        <p:spPr>
          <a:xfrm>
            <a:off x="730050" y="4250588"/>
            <a:ext cx="7625100" cy="432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Montserrat Light"/>
                <a:ea typeface="Montserrat Light"/>
                <a:cs typeface="Montserrat Light"/>
                <a:sym typeface="Montserrat Light"/>
              </a:rPr>
              <a:t>Clean data isn't just a technical goal; it's a foundation for trust, efficiency, and growth.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